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4630400" cy="82296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710"/>
  </p:normalViewPr>
  <p:slideViewPr>
    <p:cSldViewPr snapToGrid="0" snapToObjects="1">
      <p:cViewPr varScale="1">
        <p:scale>
          <a:sx n="94" d="100"/>
          <a:sy n="94" d="100"/>
        </p:scale>
        <p:origin x="744" y="20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3/4/26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3/4/26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3/4/26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-22533"/>
            <a:ext cx="5486400" cy="74001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 dirty="0" err="1">
                <a:solidFill>
                  <a:srgbClr val="38BDF8"/>
                </a:solidFill>
                <a:latin typeface="Arial"/>
              </a:rPr>
              <a:t>devpace</a:t>
            </a:r>
            <a:endParaRPr sz="4000" b="1" dirty="0">
              <a:solidFill>
                <a:srgbClr val="38BDF8"/>
              </a:solidFill>
              <a:latin typeface="Arial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F8FAFC"/>
                </a:solidFill>
                <a:latin typeface="PingFang SC"/>
              </a:defRPr>
            </a:pPr>
            <a:r>
              <a:t>给 AI 编程一个稳定的研发节奏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94A3B8"/>
                </a:solidFill>
                <a:latin typeface="PingFang SC"/>
              </a:defRPr>
            </a:pPr>
            <a:r>
              <a:t>Claude Code 首个 BizDevOps 研发管理插件 — 从业务目标到代码交付，全链路可追溯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241280" y="274320"/>
            <a:ext cx="3840480" cy="1143000"/>
          </a:xfrm>
          <a:prstGeom prst="roundRect">
            <a:avLst>
              <a:gd name="adj" fmla="val 2000"/>
            </a:avLst>
          </a:prstGeom>
          <a:solidFill>
            <a:srgbClr val="1E293B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469880" y="365760"/>
            <a:ext cx="3474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38BDF8"/>
                </a:solidFill>
                <a:latin typeface="Arial"/>
              </a:defRPr>
            </a:pPr>
            <a:r>
              <a:t>Quick Start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69880" y="594360"/>
            <a:ext cx="3474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200"/>
              </a:spcBef>
              <a:spcAft>
                <a:spcPts val="200"/>
              </a:spcAft>
              <a:defRPr sz="1100" b="0">
                <a:solidFill>
                  <a:srgbClr val="34D399"/>
                </a:solidFill>
                <a:latin typeface="Menlo"/>
              </a:defRPr>
            </a:pPr>
            <a:r>
              <a:t>/plugin install devpace@devpace</a:t>
            </a:r>
          </a:p>
          <a:p>
            <a:pPr algn="l">
              <a:lnSpc>
                <a:spcPct val="130000"/>
              </a:lnSpc>
              <a:spcBef>
                <a:spcPts val="200"/>
              </a:spcBef>
              <a:spcAft>
                <a:spcPts val="200"/>
              </a:spcAft>
              <a:defRPr sz="1100" b="0">
                <a:solidFill>
                  <a:srgbClr val="34D399"/>
                </a:solidFill>
                <a:latin typeface="Menlo"/>
              </a:defRPr>
            </a:pPr>
            <a:r>
              <a:t>/pace-init my-project</a:t>
            </a:r>
          </a:p>
          <a:p>
            <a:pPr algn="l">
              <a:lnSpc>
                <a:spcPct val="130000"/>
              </a:lnSpc>
              <a:spcBef>
                <a:spcPts val="200"/>
              </a:spcBef>
              <a:spcAft>
                <a:spcPts val="200"/>
              </a:spcAft>
              <a:defRPr sz="1000" b="0">
                <a:solidFill>
                  <a:srgbClr val="94A3B8"/>
                </a:solidFill>
                <a:latin typeface="PingFang SC"/>
              </a:defRPr>
            </a:pPr>
            <a:r>
              <a:t>→ Claude 问你一句话，然后开始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604795"/>
            <a:ext cx="13533120" cy="254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48640" y="1691640"/>
            <a:ext cx="4480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38BDF8"/>
                </a:solidFill>
                <a:latin typeface="PingFang SC"/>
              </a:defRPr>
            </a:pPr>
            <a:r>
              <a:t>痛点 → 解决方案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057400"/>
            <a:ext cx="4480560" cy="2103120"/>
          </a:xfrm>
          <a:prstGeom prst="roundRect">
            <a:avLst>
              <a:gd name="adj" fmla="val 2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685800" y="2176272"/>
            <a:ext cx="88900" cy="88900"/>
          </a:xfrm>
          <a:prstGeom prst="ellipse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68680" y="2130552"/>
            <a:ext cx="1920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FBBF24"/>
                </a:solidFill>
                <a:latin typeface="PingFang SC"/>
              </a:defRPr>
            </a:pPr>
            <a:r>
              <a:t>每次开聊都要从头解释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88920" y="2130552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34D399"/>
                </a:solidFill>
                <a:latin typeface="PingFang SC"/>
              </a:defRPr>
            </a:pPr>
            <a:r>
              <a:t>→  自动恢复上下文</a:t>
            </a:r>
          </a:p>
        </p:txBody>
      </p:sp>
      <p:sp>
        <p:nvSpPr>
          <p:cNvPr id="14" name="Oval 13"/>
          <p:cNvSpPr/>
          <p:nvPr/>
        </p:nvSpPr>
        <p:spPr>
          <a:xfrm>
            <a:off x="685800" y="2560320"/>
            <a:ext cx="88900" cy="88900"/>
          </a:xfrm>
          <a:prstGeom prst="ellipse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68680" y="2514600"/>
            <a:ext cx="1920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FBBF24"/>
                </a:solidFill>
                <a:latin typeface="PingFang SC"/>
              </a:defRPr>
            </a:pPr>
            <a:r>
              <a:t>需求一变项目就失控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88920" y="2514600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34D399"/>
                </a:solidFill>
                <a:latin typeface="PingFang SC"/>
              </a:defRPr>
            </a:pPr>
            <a:r>
              <a:t>→  即时影响分析</a:t>
            </a:r>
          </a:p>
        </p:txBody>
      </p:sp>
      <p:sp>
        <p:nvSpPr>
          <p:cNvPr id="17" name="Oval 16"/>
          <p:cNvSpPr/>
          <p:nvPr/>
        </p:nvSpPr>
        <p:spPr>
          <a:xfrm>
            <a:off x="685800" y="2944368"/>
            <a:ext cx="88900" cy="88900"/>
          </a:xfrm>
          <a:prstGeom prst="ellipse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68680" y="2898648"/>
            <a:ext cx="1920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FBBF24"/>
                </a:solidFill>
                <a:latin typeface="PingFang SC"/>
              </a:defRPr>
            </a:pPr>
            <a:r>
              <a:t>质量全靠 AI 自觉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88920" y="2898648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34D399"/>
                </a:solidFill>
                <a:latin typeface="PingFang SC"/>
              </a:defRPr>
            </a:pPr>
            <a:r>
              <a:t>→  4 级门禁拦截</a:t>
            </a:r>
          </a:p>
        </p:txBody>
      </p:sp>
      <p:sp>
        <p:nvSpPr>
          <p:cNvPr id="20" name="Oval 19"/>
          <p:cNvSpPr/>
          <p:nvPr/>
        </p:nvSpPr>
        <p:spPr>
          <a:xfrm>
            <a:off x="685800" y="3328416"/>
            <a:ext cx="88900" cy="88900"/>
          </a:xfrm>
          <a:prstGeom prst="ellipse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68680" y="3282696"/>
            <a:ext cx="1920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FBBF24"/>
                </a:solidFill>
                <a:latin typeface="PingFang SC"/>
              </a:defRPr>
            </a:pPr>
            <a:r>
              <a:t>代码和业务目标脱节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88920" y="3282696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34D399"/>
                </a:solidFill>
                <a:latin typeface="PingFang SC"/>
              </a:defRPr>
            </a:pPr>
            <a:r>
              <a:t>→  全链路可追溯</a:t>
            </a:r>
          </a:p>
        </p:txBody>
      </p:sp>
      <p:sp>
        <p:nvSpPr>
          <p:cNvPr id="23" name="Oval 22"/>
          <p:cNvSpPr/>
          <p:nvPr/>
        </p:nvSpPr>
        <p:spPr>
          <a:xfrm>
            <a:off x="685800" y="3712464"/>
            <a:ext cx="88900" cy="88900"/>
          </a:xfrm>
          <a:prstGeom prst="ellipse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68680" y="3666744"/>
            <a:ext cx="1920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FBBF24"/>
                </a:solidFill>
                <a:latin typeface="PingFang SC"/>
              </a:defRPr>
            </a:pPr>
            <a:r>
              <a:t>交付过程不可审计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88920" y="3666744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34D399"/>
                </a:solidFill>
                <a:latin typeface="PingFang SC"/>
              </a:defRPr>
            </a:pPr>
            <a:r>
              <a:t>→  决策轨迹 + DORA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03520" y="1691640"/>
            <a:ext cx="4297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38BDF8"/>
                </a:solidFill>
                <a:latin typeface="PingFang SC"/>
              </a:defRPr>
            </a:pPr>
            <a:r>
              <a:t>BizDevOps 价值交付链路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303520" y="2057400"/>
            <a:ext cx="4297680" cy="2103120"/>
          </a:xfrm>
          <a:prstGeom prst="roundRect">
            <a:avLst>
              <a:gd name="adj" fmla="val 2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5532120" y="2240280"/>
            <a:ext cx="1097280" cy="594360"/>
          </a:xfrm>
          <a:prstGeom prst="roundRect">
            <a:avLst>
              <a:gd name="adj" fmla="val 2000"/>
            </a:avLst>
          </a:prstGeom>
          <a:solidFill>
            <a:srgbClr val="161F30"/>
          </a:solidFill>
          <a:ln w="1905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577840" y="2286000"/>
            <a:ext cx="1005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A78BFA"/>
                </a:solidFill>
                <a:latin typeface="Arial"/>
              </a:defRPr>
            </a:pPr>
            <a:r>
              <a:t>OBJ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577840" y="2514600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94A3B8"/>
                </a:solidFill>
                <a:latin typeface="PingFang SC"/>
              </a:defRPr>
            </a:pPr>
            <a:r>
              <a:t>业务目标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29400" y="2377440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94A3B8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949440" y="2240280"/>
            <a:ext cx="1097280" cy="594360"/>
          </a:xfrm>
          <a:prstGeom prst="roundRect">
            <a:avLst>
              <a:gd name="adj" fmla="val 2000"/>
            </a:avLst>
          </a:prstGeom>
          <a:solidFill>
            <a:srgbClr val="161F30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995160" y="2286000"/>
            <a:ext cx="1005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38BDF8"/>
                </a:solidFill>
                <a:latin typeface="Arial"/>
              </a:defRPr>
            </a:pPr>
            <a:r>
              <a:t>PF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95160" y="2514600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94A3B8"/>
                </a:solidFill>
                <a:latin typeface="PingFang SC"/>
              </a:defRPr>
            </a:pPr>
            <a:r>
              <a:t>产品功能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46720" y="2377440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94A3B8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366760" y="2240280"/>
            <a:ext cx="1097280" cy="594360"/>
          </a:xfrm>
          <a:prstGeom prst="roundRect">
            <a:avLst>
              <a:gd name="adj" fmla="val 2000"/>
            </a:avLst>
          </a:prstGeom>
          <a:solidFill>
            <a:srgbClr val="161F30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8412480" y="2286000"/>
            <a:ext cx="1005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34D399"/>
                </a:solidFill>
                <a:latin typeface="Arial"/>
              </a:defRPr>
            </a:pPr>
            <a:r>
              <a:t>CR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412480" y="2514600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94A3B8"/>
                </a:solidFill>
                <a:latin typeface="PingFang SC"/>
              </a:defRPr>
            </a:pPr>
            <a:r>
              <a:t>代码变更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440680" y="3017520"/>
            <a:ext cx="685800" cy="365760"/>
          </a:xfrm>
          <a:prstGeom prst="roundRect">
            <a:avLst>
              <a:gd name="adj" fmla="val 2000"/>
            </a:avLst>
          </a:prstGeom>
          <a:solidFill>
            <a:srgbClr val="161F30"/>
          </a:solidFill>
          <a:ln w="127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5440680" y="3090672"/>
            <a:ext cx="685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F8FAFC"/>
                </a:solidFill>
                <a:latin typeface="PingFang SC"/>
              </a:defRPr>
            </a:pPr>
            <a:r>
              <a:t>创建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080760" y="3081528"/>
            <a:ext cx="228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94A3B8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263640" y="3017520"/>
            <a:ext cx="685800" cy="365760"/>
          </a:xfrm>
          <a:prstGeom prst="roundRect">
            <a:avLst>
              <a:gd name="adj" fmla="val 2000"/>
            </a:avLst>
          </a:prstGeom>
          <a:solidFill>
            <a:srgbClr val="161F30"/>
          </a:solidFill>
          <a:ln w="127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6263640" y="3090672"/>
            <a:ext cx="685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F8FAFC"/>
                </a:solidFill>
                <a:latin typeface="PingFang SC"/>
              </a:defRPr>
            </a:pPr>
            <a:r>
              <a:t>开发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903720" y="3081528"/>
            <a:ext cx="228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94A3B8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086600" y="3017520"/>
            <a:ext cx="685800" cy="365760"/>
          </a:xfrm>
          <a:prstGeom prst="roundRect">
            <a:avLst>
              <a:gd name="adj" fmla="val 2000"/>
            </a:avLst>
          </a:prstGeom>
          <a:solidFill>
            <a:srgbClr val="161F30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7086600" y="3090672"/>
            <a:ext cx="685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F8FAFC"/>
                </a:solidFill>
                <a:latin typeface="PingFang SC"/>
              </a:defRPr>
            </a:pPr>
            <a:r>
              <a:t>验证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086600" y="3401568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700" b="1">
                <a:solidFill>
                  <a:srgbClr val="38BDF8"/>
                </a:solidFill>
                <a:latin typeface="Arial"/>
              </a:defRPr>
            </a:pPr>
            <a:r>
              <a:t>Gate 1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726680" y="3081528"/>
            <a:ext cx="228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94A3B8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7909560" y="3017520"/>
            <a:ext cx="685800" cy="365760"/>
          </a:xfrm>
          <a:prstGeom prst="roundRect">
            <a:avLst>
              <a:gd name="adj" fmla="val 2000"/>
            </a:avLst>
          </a:prstGeom>
          <a:solidFill>
            <a:srgbClr val="161F30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7909560" y="3090672"/>
            <a:ext cx="685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F8FAFC"/>
                </a:solidFill>
                <a:latin typeface="PingFang SC"/>
              </a:defRPr>
            </a:pPr>
            <a:r>
              <a:t>审批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909560" y="3401568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700" b="1">
                <a:solidFill>
                  <a:srgbClr val="38BDF8"/>
                </a:solidFill>
                <a:latin typeface="Arial"/>
              </a:defRPr>
            </a:pPr>
            <a:r>
              <a:t>Gate 2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549640" y="3081528"/>
            <a:ext cx="228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94A3B8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8732520" y="3017520"/>
            <a:ext cx="685800" cy="365760"/>
          </a:xfrm>
          <a:prstGeom prst="roundRect">
            <a:avLst>
              <a:gd name="adj" fmla="val 2000"/>
            </a:avLst>
          </a:prstGeom>
          <a:solidFill>
            <a:srgbClr val="161F30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8732520" y="3090672"/>
            <a:ext cx="685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F8FAFC"/>
                </a:solidFill>
                <a:latin typeface="PingFang SC"/>
              </a:defRPr>
            </a:pPr>
            <a:r>
              <a:t>合并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732520" y="3401568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700" b="1">
                <a:solidFill>
                  <a:srgbClr val="34D399"/>
                </a:solidFill>
                <a:latin typeface="Arial"/>
              </a:defRPr>
            </a:pPr>
            <a:r>
              <a:t>Gate 3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440680" y="3584448"/>
            <a:ext cx="24688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94A3B8"/>
                </a:solidFill>
                <a:latin typeface="PingFang SC"/>
              </a:defRPr>
            </a:pPr>
            <a:r>
              <a:t>Gate 1-2: Claude 自动检查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909560" y="3584448"/>
            <a:ext cx="16459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34D399"/>
                </a:solidFill>
                <a:latin typeface="PingFang SC"/>
              </a:defRPr>
            </a:pPr>
            <a:r>
              <a:t>Gate 3: 人类审批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5440680" y="3813048"/>
            <a:ext cx="4023360" cy="320040"/>
          </a:xfrm>
          <a:prstGeom prst="roundRect">
            <a:avLst>
              <a:gd name="adj" fmla="val 2000"/>
            </a:avLst>
          </a:prstGeom>
          <a:solidFill>
            <a:srgbClr val="161F30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5577840" y="3858768"/>
            <a:ext cx="3840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FBBF24"/>
                </a:solidFill>
                <a:latin typeface="PingFang SC"/>
              </a:defRPr>
            </a:pPr>
            <a:r>
              <a:t>⟲  需求变更？ → 影响分析 → 有序调整 → 继续推进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875520" y="1691640"/>
            <a:ext cx="4206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38BDF8"/>
                </a:solidFill>
                <a:latin typeface="PingFang SC"/>
              </a:defRPr>
            </a:pPr>
            <a:r>
              <a:t>18 个智能命令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9875520" y="2057400"/>
            <a:ext cx="4206240" cy="2103120"/>
          </a:xfrm>
          <a:prstGeom prst="roundRect">
            <a:avLst>
              <a:gd name="adj" fmla="val 2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Oval 61"/>
          <p:cNvSpPr/>
          <p:nvPr/>
        </p:nvSpPr>
        <p:spPr>
          <a:xfrm>
            <a:off x="10012680" y="2185416"/>
            <a:ext cx="101600" cy="101600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10168128" y="2148840"/>
            <a:ext cx="640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A78BFA"/>
                </a:solidFill>
                <a:latin typeface="PingFang SC"/>
              </a:defRPr>
            </a:pPr>
            <a:r>
              <a:t>规划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0012680" y="2331720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F8FAFC"/>
                </a:solidFill>
                <a:latin typeface="Menlo"/>
              </a:defRPr>
            </a:pPr>
            <a:r>
              <a:t>/pace-init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0927080" y="2331720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94A3B8"/>
                </a:solidFill>
                <a:latin typeface="PingFang SC"/>
              </a:defRPr>
            </a:pPr>
            <a:r>
              <a:t>一句话初始化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2024360" y="2331720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F8FAFC"/>
                </a:solidFill>
                <a:latin typeface="Menlo"/>
              </a:defRPr>
            </a:pPr>
            <a:r>
              <a:t>/pace-plan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2938760" y="2331720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94A3B8"/>
                </a:solidFill>
                <a:latin typeface="PingFang SC"/>
              </a:defRPr>
            </a:pPr>
            <a:r>
              <a:t>迭代规划排期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0012680" y="2532888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F8FAFC"/>
                </a:solidFill>
                <a:latin typeface="Menlo"/>
              </a:defRPr>
            </a:pPr>
            <a:r>
              <a:t>/pace-next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0927080" y="2532888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94A3B8"/>
                </a:solidFill>
                <a:latin typeface="PingFang SC"/>
              </a:defRPr>
            </a:pPr>
            <a:r>
              <a:rPr dirty="0"/>
              <a:t>AI </a:t>
            </a:r>
            <a:r>
              <a:rPr dirty="0" err="1"/>
              <a:t>推荐下一步</a:t>
            </a:r>
            <a:endParaRPr dirty="0"/>
          </a:p>
        </p:txBody>
      </p:sp>
      <p:sp>
        <p:nvSpPr>
          <p:cNvPr id="70" name="Oval 69"/>
          <p:cNvSpPr/>
          <p:nvPr/>
        </p:nvSpPr>
        <p:spPr>
          <a:xfrm>
            <a:off x="10012680" y="2834640"/>
            <a:ext cx="101600" cy="101600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10168128" y="2798064"/>
            <a:ext cx="640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38BDF8"/>
                </a:solidFill>
                <a:latin typeface="PingFang SC"/>
              </a:defRPr>
            </a:pPr>
            <a:r>
              <a:t>开发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0012680" y="2980944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F8FAFC"/>
                </a:solidFill>
                <a:latin typeface="Menlo"/>
              </a:defRPr>
            </a:pPr>
            <a:r>
              <a:t>/pace-dev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0927080" y="2980944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94A3B8"/>
                </a:solidFill>
                <a:latin typeface="PingFang SC"/>
              </a:defRPr>
            </a:pPr>
            <a:r>
              <a:t>推进模式写码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2024360" y="2980944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F8FAFC"/>
                </a:solidFill>
                <a:latin typeface="Menlo"/>
              </a:defRPr>
            </a:pPr>
            <a:r>
              <a:t>/pace-change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2938760" y="2980944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94A3B8"/>
                </a:solidFill>
                <a:latin typeface="PingFang SC"/>
              </a:defRPr>
            </a:pPr>
            <a:r>
              <a:t>变更影响分析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0012680" y="318211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F8FAFC"/>
                </a:solidFill>
                <a:latin typeface="Menlo"/>
              </a:defRPr>
            </a:pPr>
            <a:r>
              <a:t>/pace-review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0927080" y="3182112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94A3B8"/>
                </a:solidFill>
                <a:latin typeface="PingFang SC"/>
              </a:defRPr>
            </a:pPr>
            <a:r>
              <a:t>对抗式审查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12024360" y="318211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F8FAFC"/>
                </a:solidFill>
                <a:latin typeface="Menlo"/>
              </a:defRPr>
            </a:pPr>
            <a:r>
              <a:t>/pace-test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2938760" y="3182112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94A3B8"/>
                </a:solidFill>
                <a:latin typeface="PingFang SC"/>
              </a:defRPr>
            </a:pPr>
            <a:r>
              <a:t>三层测试管理</a:t>
            </a:r>
          </a:p>
        </p:txBody>
      </p:sp>
      <p:sp>
        <p:nvSpPr>
          <p:cNvPr id="80" name="Oval 79"/>
          <p:cNvSpPr/>
          <p:nvPr/>
        </p:nvSpPr>
        <p:spPr>
          <a:xfrm>
            <a:off x="10012680" y="3483864"/>
            <a:ext cx="101600" cy="101600"/>
          </a:xfrm>
          <a:prstGeom prst="ellipse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TextBox 80"/>
          <p:cNvSpPr txBox="1"/>
          <p:nvPr/>
        </p:nvSpPr>
        <p:spPr>
          <a:xfrm>
            <a:off x="10168128" y="3447288"/>
            <a:ext cx="640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34D399"/>
                </a:solidFill>
                <a:latin typeface="PingFang SC"/>
              </a:defRPr>
            </a:pPr>
            <a:r>
              <a:t>交付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012680" y="3630168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F8FAFC"/>
                </a:solidFill>
                <a:latin typeface="Menlo"/>
              </a:defRPr>
            </a:pPr>
            <a:r>
              <a:t>/pace-release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0927080" y="3630168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94A3B8"/>
                </a:solidFill>
                <a:latin typeface="PingFang SC"/>
              </a:defRPr>
            </a:pPr>
            <a:r>
              <a:t>发布全生命周期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12024360" y="3630168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F8FAFC"/>
                </a:solidFill>
                <a:latin typeface="Menlo"/>
              </a:defRPr>
            </a:pPr>
            <a:r>
              <a:t>/pace-sync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2938760" y="3630168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94A3B8"/>
                </a:solidFill>
                <a:latin typeface="PingFang SC"/>
              </a:defRPr>
            </a:pPr>
            <a:r>
              <a:t>同步外部工具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10012680" y="3831336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F8FAFC"/>
                </a:solidFill>
                <a:latin typeface="Menlo"/>
              </a:defRPr>
            </a:pPr>
            <a:r>
              <a:t>/pace-guard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10927080" y="3831336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94A3B8"/>
                </a:solidFill>
                <a:latin typeface="PingFang SC"/>
              </a:defRPr>
            </a:pPr>
            <a:r>
              <a:t>风险预判监控</a:t>
            </a:r>
          </a:p>
        </p:txBody>
      </p:sp>
      <p:sp>
        <p:nvSpPr>
          <p:cNvPr id="88" name="Oval 87"/>
          <p:cNvSpPr/>
          <p:nvPr/>
        </p:nvSpPr>
        <p:spPr>
          <a:xfrm>
            <a:off x="10012680" y="4133088"/>
            <a:ext cx="101600" cy="101600"/>
          </a:xfrm>
          <a:prstGeom prst="ellipse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TextBox 88"/>
          <p:cNvSpPr txBox="1"/>
          <p:nvPr/>
        </p:nvSpPr>
        <p:spPr>
          <a:xfrm>
            <a:off x="10168128" y="4096512"/>
            <a:ext cx="640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BBF24"/>
                </a:solidFill>
                <a:latin typeface="PingFang SC"/>
              </a:defRPr>
            </a:pPr>
            <a:r>
              <a:t>洞察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10012680" y="42793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F8FAFC"/>
                </a:solidFill>
                <a:latin typeface="Menlo"/>
              </a:defRPr>
            </a:pPr>
            <a:r>
              <a:t>/pace-status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10927080" y="4279392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94A3B8"/>
                </a:solidFill>
                <a:latin typeface="PingFang SC"/>
              </a:defRPr>
            </a:pPr>
            <a:r>
              <a:t>全景仪表盘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12024360" y="42793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F8FAFC"/>
                </a:solidFill>
                <a:latin typeface="Menlo"/>
              </a:defRPr>
            </a:pPr>
            <a:r>
              <a:t>/pace-retro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12938760" y="4279392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94A3B8"/>
                </a:solidFill>
                <a:latin typeface="PingFang SC"/>
              </a:defRPr>
            </a:pPr>
            <a:r>
              <a:t>回顾+DORA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10012680" y="4480560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F8FAFC"/>
                </a:solidFill>
                <a:latin typeface="Menlo"/>
              </a:defRPr>
            </a:pPr>
            <a:r>
              <a:t>/pace-role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10927080" y="4480560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94A3B8"/>
                </a:solidFill>
                <a:latin typeface="PingFang SC"/>
              </a:defRPr>
            </a:pPr>
            <a:r>
              <a:t>多角色视角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2024360" y="4480560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F8FAFC"/>
                </a:solidFill>
                <a:latin typeface="Menlo"/>
              </a:defRPr>
            </a:pPr>
            <a:r>
              <a:t>/pace-trace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12938760" y="4480560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94A3B8"/>
                </a:solidFill>
                <a:latin typeface="PingFang SC"/>
              </a:defRPr>
            </a:pPr>
            <a:r>
              <a:t>决策追溯</a:t>
            </a:r>
          </a:p>
        </p:txBody>
      </p:sp>
      <p:sp>
        <p:nvSpPr>
          <p:cNvPr id="98" name="Rectangle 97"/>
          <p:cNvSpPr/>
          <p:nvPr/>
        </p:nvSpPr>
        <p:spPr>
          <a:xfrm>
            <a:off x="548640" y="4690872"/>
            <a:ext cx="13533120" cy="254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TextBox 98"/>
          <p:cNvSpPr txBox="1"/>
          <p:nvPr/>
        </p:nvSpPr>
        <p:spPr>
          <a:xfrm>
            <a:off x="548640" y="47548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38BDF8"/>
                </a:solidFill>
                <a:latin typeface="PingFang SC"/>
              </a:defRPr>
            </a:pPr>
            <a:r>
              <a:t>vs 传统任务管理工具</a:t>
            </a:r>
          </a:p>
        </p:txBody>
      </p:sp>
      <p:sp>
        <p:nvSpPr>
          <p:cNvPr id="100" name="Rounded Rectangle 99"/>
          <p:cNvSpPr/>
          <p:nvPr/>
        </p:nvSpPr>
        <p:spPr>
          <a:xfrm>
            <a:off x="548640" y="5074920"/>
            <a:ext cx="3474720" cy="1645920"/>
          </a:xfrm>
          <a:prstGeom prst="roundRect">
            <a:avLst>
              <a:gd name="adj" fmla="val 2000"/>
            </a:avLst>
          </a:prstGeom>
          <a:solidFill>
            <a:srgbClr val="1E293B"/>
          </a:solidFill>
          <a:ln w="127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TextBox 100"/>
          <p:cNvSpPr txBox="1"/>
          <p:nvPr/>
        </p:nvSpPr>
        <p:spPr>
          <a:xfrm>
            <a:off x="685800" y="5148072"/>
            <a:ext cx="3200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94A3B8"/>
                </a:solidFill>
                <a:latin typeface="Arial"/>
              </a:defRPr>
            </a:pPr>
            <a:r>
              <a:t>TodoWrite / GitHub Issues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685800" y="5422392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94A3B8"/>
                </a:solidFill>
                <a:latin typeface="PingFang SC"/>
              </a:defRPr>
            </a:pPr>
            <a:r>
              <a:t>核心模型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783080" y="5422392"/>
            <a:ext cx="2103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94A3B8"/>
                </a:solidFill>
                <a:latin typeface="PingFang SC"/>
              </a:defRPr>
            </a:pPr>
            <a:r>
              <a:t>任务列表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685800" y="5669280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94A3B8"/>
                </a:solidFill>
                <a:latin typeface="PingFang SC"/>
              </a:defRPr>
            </a:pPr>
            <a:r>
              <a:t>对变更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1783080" y="5669280"/>
            <a:ext cx="2103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94A3B8"/>
                </a:solidFill>
                <a:latin typeface="PingFang SC"/>
              </a:defRPr>
            </a:pPr>
            <a:r>
              <a:t>计划是稳定的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685800" y="5916168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94A3B8"/>
                </a:solidFill>
                <a:latin typeface="PingFang SC"/>
              </a:defRPr>
            </a:pPr>
            <a:r>
              <a:t>Claude 角色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1783080" y="5916168"/>
            <a:ext cx="2103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94A3B8"/>
                </a:solidFill>
                <a:latin typeface="PingFang SC"/>
              </a:defRPr>
            </a:pPr>
            <a:r>
              <a:t>执行者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685800" y="6163056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94A3B8"/>
                </a:solidFill>
                <a:latin typeface="PingFang SC"/>
              </a:defRPr>
            </a:pPr>
            <a:r>
              <a:t>可追溯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1783080" y="6163056"/>
            <a:ext cx="2103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94A3B8"/>
                </a:solidFill>
                <a:latin typeface="PingFang SC"/>
              </a:defRPr>
            </a:pPr>
            <a:r>
              <a:t>任务 → 代码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685800" y="640994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94A3B8"/>
                </a:solidFill>
                <a:latin typeface="PingFang SC"/>
              </a:defRPr>
            </a:pPr>
            <a:r>
              <a:t>度量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1783080" y="6409944"/>
            <a:ext cx="2103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94A3B8"/>
                </a:solidFill>
                <a:latin typeface="PingFang SC"/>
              </a:defRPr>
            </a:pPr>
            <a:r>
              <a:t>完成数</a:t>
            </a:r>
          </a:p>
        </p:txBody>
      </p:sp>
      <p:sp>
        <p:nvSpPr>
          <p:cNvPr id="112" name="Rounded Rectangle 111"/>
          <p:cNvSpPr/>
          <p:nvPr/>
        </p:nvSpPr>
        <p:spPr>
          <a:xfrm>
            <a:off x="4297679" y="5074920"/>
            <a:ext cx="3474720" cy="1645920"/>
          </a:xfrm>
          <a:prstGeom prst="roundRect">
            <a:avLst>
              <a:gd name="adj" fmla="val 2000"/>
            </a:avLst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3" name="TextBox 112"/>
          <p:cNvSpPr txBox="1"/>
          <p:nvPr/>
        </p:nvSpPr>
        <p:spPr>
          <a:xfrm>
            <a:off x="4434840" y="5148072"/>
            <a:ext cx="3200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38BDF8"/>
                </a:solidFill>
                <a:latin typeface="Arial"/>
              </a:defRPr>
            </a:pPr>
            <a:r>
              <a:t>devpace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4434840" y="5422392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94A3B8"/>
                </a:solidFill>
                <a:latin typeface="PingFang SC"/>
              </a:defRPr>
            </a:pPr>
            <a:r>
              <a:t>核心模型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5532120" y="5422392"/>
            <a:ext cx="2103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38BDF8"/>
                </a:solidFill>
                <a:latin typeface="PingFang SC"/>
              </a:defRPr>
            </a:pPr>
            <a:r>
              <a:t>价值交付链路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4434840" y="5669280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94A3B8"/>
                </a:solidFill>
                <a:latin typeface="PingFang SC"/>
              </a:defRPr>
            </a:pPr>
            <a:r>
              <a:t>对变更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5532120" y="5669280"/>
            <a:ext cx="2103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FBBF24"/>
                </a:solidFill>
                <a:latin typeface="PingFang SC"/>
              </a:defRPr>
            </a:pPr>
            <a:r>
              <a:t>变更是一等公民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4434840" y="5916168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94A3B8"/>
                </a:solidFill>
                <a:latin typeface="PingFang SC"/>
              </a:defRPr>
            </a:pPr>
            <a:r>
              <a:t>Claude 角色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5532120" y="5916168"/>
            <a:ext cx="2103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34D399"/>
                </a:solidFill>
                <a:latin typeface="PingFang SC"/>
              </a:defRPr>
            </a:pPr>
            <a:r>
              <a:t>自治协作者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4434840" y="6163056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94A3B8"/>
                </a:solidFill>
                <a:latin typeface="PingFang SC"/>
              </a:defRPr>
            </a:pPr>
            <a:r>
              <a:t>可追溯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5532120" y="6163056"/>
            <a:ext cx="2103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A78BFA"/>
                </a:solidFill>
                <a:latin typeface="PingFang SC"/>
              </a:defRPr>
            </a:pPr>
            <a:r>
              <a:t>目标→功能→变更→代码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4434840" y="640994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94A3B8"/>
                </a:solidFill>
                <a:latin typeface="PingFang SC"/>
              </a:defRPr>
            </a:pPr>
            <a:r>
              <a:t>度量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5532120" y="6409944"/>
            <a:ext cx="2103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34D399"/>
                </a:solidFill>
                <a:latin typeface="PingFang SC"/>
              </a:defRPr>
            </a:pPr>
            <a:r>
              <a:t>质量 + 价值对齐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8046720" y="47548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38BDF8"/>
                </a:solidFill>
                <a:latin typeface="PingFang SC"/>
              </a:defRPr>
            </a:pPr>
            <a:r>
              <a:t>核心能力</a:t>
            </a:r>
          </a:p>
        </p:txBody>
      </p:sp>
      <p:sp>
        <p:nvSpPr>
          <p:cNvPr id="125" name="Rounded Rectangle 124"/>
          <p:cNvSpPr/>
          <p:nvPr/>
        </p:nvSpPr>
        <p:spPr>
          <a:xfrm>
            <a:off x="8046720" y="5074920"/>
            <a:ext cx="6035040" cy="365760"/>
          </a:xfrm>
          <a:prstGeom prst="roundRect">
            <a:avLst>
              <a:gd name="adj" fmla="val 2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6" name="TextBox 125"/>
          <p:cNvSpPr txBox="1"/>
          <p:nvPr/>
        </p:nvSpPr>
        <p:spPr>
          <a:xfrm>
            <a:off x="8138160" y="5093208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38BDF8"/>
                </a:solidFill>
                <a:latin typeface="Arial"/>
              </a:defRPr>
            </a:pPr>
            <a:r>
              <a:t>18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8686800" y="5093208"/>
            <a:ext cx="1188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8FAFC"/>
                </a:solidFill>
                <a:latin typeface="PingFang SC"/>
              </a:defRPr>
            </a:pPr>
            <a:r>
              <a:t>个智能命令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8686800" y="5257800"/>
            <a:ext cx="53035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94A3B8"/>
                </a:solidFill>
                <a:latin typeface="PingFang SC"/>
              </a:defRPr>
            </a:pPr>
            <a:r>
              <a:t>覆盖规划/开发/交付/洞察全周期</a:t>
            </a:r>
          </a:p>
        </p:txBody>
      </p:sp>
      <p:sp>
        <p:nvSpPr>
          <p:cNvPr id="129" name="Rounded Rectangle 128"/>
          <p:cNvSpPr/>
          <p:nvPr/>
        </p:nvSpPr>
        <p:spPr>
          <a:xfrm>
            <a:off x="8046720" y="5486400"/>
            <a:ext cx="6035040" cy="365760"/>
          </a:xfrm>
          <a:prstGeom prst="roundRect">
            <a:avLst>
              <a:gd name="adj" fmla="val 2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0" name="TextBox 129"/>
          <p:cNvSpPr txBox="1"/>
          <p:nvPr/>
        </p:nvSpPr>
        <p:spPr>
          <a:xfrm>
            <a:off x="8138160" y="5504688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34D399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8686800" y="5504688"/>
            <a:ext cx="1188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8FAFC"/>
                </a:solidFill>
                <a:latin typeface="PingFang SC"/>
              </a:defRPr>
            </a:pPr>
            <a:r>
              <a:t>级质量门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8686800" y="5669280"/>
            <a:ext cx="53035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94A3B8"/>
                </a:solidFill>
                <a:latin typeface="PingFang SC"/>
              </a:defRPr>
            </a:pPr>
            <a:r>
              <a:t>Gate 1-2 AI 自动 · Gate 3 人类审批 · Gate 4 系统级</a:t>
            </a:r>
          </a:p>
        </p:txBody>
      </p:sp>
      <p:sp>
        <p:nvSpPr>
          <p:cNvPr id="133" name="Rounded Rectangle 132"/>
          <p:cNvSpPr/>
          <p:nvPr/>
        </p:nvSpPr>
        <p:spPr>
          <a:xfrm>
            <a:off x="8046720" y="5897880"/>
            <a:ext cx="6035040" cy="365760"/>
          </a:xfrm>
          <a:prstGeom prst="roundRect">
            <a:avLst>
              <a:gd name="adj" fmla="val 2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4" name="TextBox 133"/>
          <p:cNvSpPr txBox="1"/>
          <p:nvPr/>
        </p:nvSpPr>
        <p:spPr>
          <a:xfrm>
            <a:off x="8138160" y="5916168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FBBF24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8686800" y="5916168"/>
            <a:ext cx="1188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8FAFC"/>
                </a:solidFill>
                <a:latin typeface="PingFang SC"/>
              </a:defRPr>
            </a:pPr>
            <a:r>
              <a:t>种变更管理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8686800" y="6080760"/>
            <a:ext cx="53035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94A3B8"/>
                </a:solidFill>
                <a:latin typeface="PingFang SC"/>
              </a:defRPr>
            </a:pPr>
            <a:r>
              <a:t>插入/暂停/恢复/优先级/批量，需求变更是一等公民</a:t>
            </a:r>
          </a:p>
        </p:txBody>
      </p:sp>
      <p:sp>
        <p:nvSpPr>
          <p:cNvPr id="137" name="Rounded Rectangle 136"/>
          <p:cNvSpPr/>
          <p:nvPr/>
        </p:nvSpPr>
        <p:spPr>
          <a:xfrm>
            <a:off x="8046720" y="6309360"/>
            <a:ext cx="6035040" cy="365760"/>
          </a:xfrm>
          <a:prstGeom prst="roundRect">
            <a:avLst>
              <a:gd name="adj" fmla="val 2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8" name="TextBox 137"/>
          <p:cNvSpPr txBox="1"/>
          <p:nvPr/>
        </p:nvSpPr>
        <p:spPr>
          <a:xfrm>
            <a:off x="8138160" y="6327648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A78BFA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8686800" y="6327648"/>
            <a:ext cx="1188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8FAFC"/>
                </a:solidFill>
                <a:latin typeface="PingFang SC"/>
              </a:defRPr>
            </a:pPr>
            <a:r>
              <a:t>个角色视角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8686800" y="6492240"/>
            <a:ext cx="53035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94A3B8"/>
                </a:solidFill>
                <a:latin typeface="PingFang SC"/>
              </a:defRPr>
            </a:pPr>
            <a:r>
              <a:t>Biz / PM / Dev / Tester / Ops 自动切换</a:t>
            </a:r>
          </a:p>
        </p:txBody>
      </p:sp>
      <p:sp>
        <p:nvSpPr>
          <p:cNvPr id="141" name="Rectangle 140"/>
          <p:cNvSpPr/>
          <p:nvPr/>
        </p:nvSpPr>
        <p:spPr>
          <a:xfrm>
            <a:off x="515203" y="6830022"/>
            <a:ext cx="13533120" cy="254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2" name="TextBox 141"/>
          <p:cNvSpPr txBox="1"/>
          <p:nvPr/>
        </p:nvSpPr>
        <p:spPr>
          <a:xfrm>
            <a:off x="548640" y="68580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8FAFC"/>
                </a:solidFill>
                <a:latin typeface="PingFang SC"/>
              </a:defRPr>
            </a:pPr>
            <a:r>
              <a:t>需求永远在变，但研发节奏不应该因此失控。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548640" y="7223760"/>
            <a:ext cx="1280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38BDF8"/>
                </a:solidFill>
                <a:latin typeface="PingFang SC"/>
              </a:defRPr>
            </a:pPr>
            <a:r>
              <a:t>护城河策略</a:t>
            </a:r>
          </a:p>
        </p:txBody>
      </p:sp>
      <p:sp>
        <p:nvSpPr>
          <p:cNvPr id="144" name="Oval 143"/>
          <p:cNvSpPr/>
          <p:nvPr/>
        </p:nvSpPr>
        <p:spPr>
          <a:xfrm>
            <a:off x="548640" y="7516368"/>
            <a:ext cx="101600" cy="101600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5" name="TextBox 144"/>
          <p:cNvSpPr txBox="1"/>
          <p:nvPr/>
        </p:nvSpPr>
        <p:spPr>
          <a:xfrm>
            <a:off x="713232" y="7452360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38BDF8"/>
                </a:solidFill>
                <a:latin typeface="PingFang SC"/>
              </a:defRPr>
            </a:pPr>
            <a:r>
              <a:t>入口层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713232" y="7616952"/>
            <a:ext cx="31089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94A3B8"/>
                </a:solidFill>
                <a:latin typeface="PingFang SC"/>
              </a:defRPr>
            </a:pPr>
            <a:r>
              <a:t>跨会话连续性 — 自动恢复上下文</a:t>
            </a:r>
          </a:p>
        </p:txBody>
      </p:sp>
      <p:sp>
        <p:nvSpPr>
          <p:cNvPr id="147" name="Oval 146"/>
          <p:cNvSpPr/>
          <p:nvPr/>
        </p:nvSpPr>
        <p:spPr>
          <a:xfrm>
            <a:off x="3931920" y="7516368"/>
            <a:ext cx="101600" cy="101600"/>
          </a:xfrm>
          <a:prstGeom prst="ellipse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8" name="TextBox 147"/>
          <p:cNvSpPr txBox="1"/>
          <p:nvPr/>
        </p:nvSpPr>
        <p:spPr>
          <a:xfrm>
            <a:off x="4096512" y="7452360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FBBF24"/>
                </a:solidFill>
                <a:latin typeface="PingFang SC"/>
              </a:defRPr>
            </a:pPr>
            <a:r>
              <a:t>差异化层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4096512" y="7616952"/>
            <a:ext cx="31089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94A3B8"/>
                </a:solidFill>
                <a:latin typeface="PingFang SC"/>
              </a:defRPr>
            </a:pPr>
            <a:r>
              <a:t>变更管理 — 影响分析 + 有序调整</a:t>
            </a:r>
          </a:p>
        </p:txBody>
      </p:sp>
      <p:sp>
        <p:nvSpPr>
          <p:cNvPr id="150" name="Oval 149"/>
          <p:cNvSpPr/>
          <p:nvPr/>
        </p:nvSpPr>
        <p:spPr>
          <a:xfrm>
            <a:off x="7315200" y="7516368"/>
            <a:ext cx="101600" cy="101600"/>
          </a:xfrm>
          <a:prstGeom prst="ellipse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1" name="TextBox 150"/>
          <p:cNvSpPr txBox="1"/>
          <p:nvPr/>
        </p:nvSpPr>
        <p:spPr>
          <a:xfrm>
            <a:off x="7479792" y="7452360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34D399"/>
                </a:solidFill>
                <a:latin typeface="PingFang SC"/>
              </a:defRPr>
            </a:pPr>
            <a:r>
              <a:t>护城河层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7479792" y="7616952"/>
            <a:ext cx="31089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94A3B8"/>
                </a:solidFill>
                <a:latin typeface="PingFang SC"/>
              </a:defRPr>
            </a:pPr>
            <a:r>
              <a:t>完整价值链 + DORA 度量 — 不可替代</a:t>
            </a:r>
          </a:p>
        </p:txBody>
      </p:sp>
      <p:sp>
        <p:nvSpPr>
          <p:cNvPr id="153" name="Oval 152"/>
          <p:cNvSpPr/>
          <p:nvPr/>
        </p:nvSpPr>
        <p:spPr>
          <a:xfrm>
            <a:off x="10698480" y="7516368"/>
            <a:ext cx="101600" cy="101600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4" name="TextBox 153"/>
          <p:cNvSpPr txBox="1"/>
          <p:nvPr/>
        </p:nvSpPr>
        <p:spPr>
          <a:xfrm>
            <a:off x="10863072" y="7452360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A78BFA"/>
                </a:solidFill>
                <a:latin typeface="PingFang SC"/>
              </a:defRPr>
            </a:pPr>
            <a:r>
              <a:t>企业层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10863072" y="7616952"/>
            <a:ext cx="31089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94A3B8"/>
                </a:solidFill>
                <a:latin typeface="PingFang SC"/>
              </a:defRPr>
            </a:pPr>
            <a:r>
              <a:t>全链路审计追溯 — 合规必选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10972800" y="6858000"/>
            <a:ext cx="3108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94A3B8"/>
                </a:solidFill>
                <a:latin typeface="Arial"/>
              </a:defRPr>
            </a:pPr>
            <a:r>
              <a:t>MIT License  ·  Open Source</a:t>
            </a:r>
          </a:p>
        </p:txBody>
      </p:sp>
      <p:sp>
        <p:nvSpPr>
          <p:cNvPr id="157" name="Rounded Rectangle 156"/>
          <p:cNvSpPr/>
          <p:nvPr/>
        </p:nvSpPr>
        <p:spPr>
          <a:xfrm>
            <a:off x="12344400" y="7132320"/>
            <a:ext cx="1737360" cy="274320"/>
          </a:xfrm>
          <a:prstGeom prst="roundRect">
            <a:avLst>
              <a:gd name="adj" fmla="val 2000"/>
            </a:avLst>
          </a:prstGeom>
          <a:solidFill>
            <a:srgbClr val="1E293B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8" name="TextBox 157"/>
          <p:cNvSpPr txBox="1"/>
          <p:nvPr/>
        </p:nvSpPr>
        <p:spPr>
          <a:xfrm>
            <a:off x="12344400" y="7159752"/>
            <a:ext cx="1737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38BDF8"/>
                </a:solidFill>
                <a:latin typeface="Arial"/>
              </a:defRPr>
            </a:pPr>
            <a:r>
              <a:t>v1.6.0  ·  20 Phases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269</Words>
  <Application>Microsoft Macintosh PowerPoint</Application>
  <PresentationFormat>Custom</PresentationFormat>
  <Paragraphs>123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Sun, Jinhua</cp:lastModifiedBy>
  <cp:revision>2</cp:revision>
  <dcterms:created xsi:type="dcterms:W3CDTF">2013-01-27T09:14:16Z</dcterms:created>
  <dcterms:modified xsi:type="dcterms:W3CDTF">2026-03-04T05:02:31Z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19e68092-05df-4271-8e3e-b2a4c82ba797_Enabled">
    <vt:lpwstr>true</vt:lpwstr>
  </property>
  <property fmtid="{D5CDD505-2E9C-101B-9397-08002B2CF9AE}" pid="3" name="MSIP_Label_19e68092-05df-4271-8e3e-b2a4c82ba797_SetDate">
    <vt:lpwstr>2026-03-04T05:02:31Z</vt:lpwstr>
  </property>
  <property fmtid="{D5CDD505-2E9C-101B-9397-08002B2CF9AE}" pid="4" name="MSIP_Label_19e68092-05df-4271-8e3e-b2a4c82ba797_Method">
    <vt:lpwstr>Standard</vt:lpwstr>
  </property>
  <property fmtid="{D5CDD505-2E9C-101B-9397-08002B2CF9AE}" pid="5" name="MSIP_Label_19e68092-05df-4271-8e3e-b2a4c82ba797_Name">
    <vt:lpwstr>Amazon Confidential</vt:lpwstr>
  </property>
  <property fmtid="{D5CDD505-2E9C-101B-9397-08002B2CF9AE}" pid="6" name="MSIP_Label_19e68092-05df-4271-8e3e-b2a4c82ba797_SiteId">
    <vt:lpwstr>5280104a-472d-4538-9ccf-1e1d0efe8b1b</vt:lpwstr>
  </property>
  <property fmtid="{D5CDD505-2E9C-101B-9397-08002B2CF9AE}" pid="7" name="MSIP_Label_19e68092-05df-4271-8e3e-b2a4c82ba797_ActionId">
    <vt:lpwstr>94c31d06-349c-440e-b987-37ea564225a3</vt:lpwstr>
  </property>
  <property fmtid="{D5CDD505-2E9C-101B-9397-08002B2CF9AE}" pid="8" name="MSIP_Label_19e68092-05df-4271-8e3e-b2a4c82ba797_ContentBits">
    <vt:lpwstr>0</vt:lpwstr>
  </property>
  <property fmtid="{D5CDD505-2E9C-101B-9397-08002B2CF9AE}" pid="9" name="MSIP_Label_19e68092-05df-4271-8e3e-b2a4c82ba797_Tag">
    <vt:lpwstr>50, 3, 0, 1</vt:lpwstr>
  </property>
</Properties>
</file>